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5" r:id="rId3"/>
    <p:sldId id="280" r:id="rId4"/>
    <p:sldId id="281" r:id="rId5"/>
    <p:sldId id="267" r:id="rId6"/>
    <p:sldId id="282" r:id="rId7"/>
    <p:sldId id="283" r:id="rId8"/>
    <p:sldId id="278" r:id="rId9"/>
    <p:sldId id="279" r:id="rId10"/>
    <p:sldId id="275" r:id="rId11"/>
    <p:sldId id="276" r:id="rId12"/>
    <p:sldId id="269" r:id="rId13"/>
    <p:sldId id="284" r:id="rId14"/>
    <p:sldId id="285" r:id="rId15"/>
    <p:sldId id="286" r:id="rId16"/>
    <p:sldId id="287" r:id="rId17"/>
    <p:sldId id="288" r:id="rId18"/>
    <p:sldId id="270" r:id="rId19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0000"/>
    <a:srgbClr val="E08E34"/>
    <a:srgbClr val="FFFFCC"/>
    <a:srgbClr val="050121"/>
    <a:srgbClr val="333333"/>
    <a:srgbClr val="969696"/>
    <a:srgbClr val="DDDDDD"/>
    <a:srgbClr val="FEDAD6"/>
    <a:srgbClr val="5D0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5" autoAdjust="0"/>
    <p:restoredTop sz="94716"/>
  </p:normalViewPr>
  <p:slideViewPr>
    <p:cSldViewPr>
      <p:cViewPr varScale="1">
        <p:scale>
          <a:sx n="106" d="100"/>
          <a:sy n="106" d="100"/>
        </p:scale>
        <p:origin x="12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>
      <p:cViewPr varScale="1">
        <p:scale>
          <a:sx n="60" d="100"/>
          <a:sy n="60" d="100"/>
        </p:scale>
        <p:origin x="-141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2B237D-9950-4EB0-91B3-0FEC519831C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2325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0A91FC6-3D07-4992-B64E-8B2198E1DD7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96516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5DFD33A-21C6-4B9C-9B8B-CD137966CD27}" type="slidenum">
              <a:rPr lang="tr-TR" altLang="en-US"/>
              <a:pPr>
                <a:spcBef>
                  <a:spcPct val="0"/>
                </a:spcBef>
              </a:pPr>
              <a:t>1</a:t>
            </a:fld>
            <a:endParaRPr lang="tr-TR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4B167137-106F-4911-9F48-D7586CE25DE7}" type="slidenum">
              <a:rPr lang="tr-TR" altLang="en-US"/>
              <a:pPr>
                <a:spcBef>
                  <a:spcPct val="0"/>
                </a:spcBef>
              </a:pPr>
              <a:t>2</a:t>
            </a:fld>
            <a:endParaRPr lang="tr-TR" altLang="en-US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91FC6-3D07-4992-B64E-8B2198E1DD72}" type="slidenum">
              <a:rPr lang="tr-TR" altLang="en-US" smtClean="0"/>
              <a:pPr/>
              <a:t>11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9104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/>
          <p:cNvSpPr txBox="1">
            <a:spLocks noChangeArrowheads="1"/>
          </p:cNvSpPr>
          <p:nvPr userDrawn="1"/>
        </p:nvSpPr>
        <p:spPr bwMode="auto"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000" b="1">
                <a:solidFill>
                  <a:srgbClr val="FFFFCC"/>
                </a:solidFill>
                <a:latin typeface="Tahoma" pitchFamily="34" charset="0"/>
              </a:rPr>
              <a:t>Bilgisayar Mühendisliği Bölümü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9012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pic>
        <p:nvPicPr>
          <p:cNvPr id="11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57150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9752"/>
            <a:ext cx="2786738" cy="174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9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06EA505-76AA-495E-815C-8AF94549A6BB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5808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dirty="0"/>
              <a:t>As</a:t>
            </a:r>
            <a:r>
              <a:rPr lang="en-US" dirty="0"/>
              <a:t>I</a:t>
            </a:r>
            <a:r>
              <a:rPr lang="tr-TR" dirty="0"/>
              <a:t>l başl</a:t>
            </a:r>
            <a:r>
              <a:rPr lang="en-US" dirty="0"/>
              <a:t>I</a:t>
            </a:r>
            <a:r>
              <a:rPr lang="tr-TR" dirty="0"/>
              <a:t>k st</a:t>
            </a:r>
            <a:r>
              <a:rPr lang="en-US" dirty="0"/>
              <a:t>İ</a:t>
            </a:r>
            <a:r>
              <a:rPr lang="tr-TR" dirty="0"/>
              <a:t>l</a:t>
            </a:r>
            <a:r>
              <a:rPr lang="en-US" dirty="0"/>
              <a:t>İ</a:t>
            </a:r>
            <a:r>
              <a:rPr lang="tr-TR" dirty="0"/>
              <a:t> </a:t>
            </a:r>
            <a:r>
              <a:rPr lang="en-US" dirty="0"/>
              <a:t>İ</a:t>
            </a:r>
            <a:r>
              <a:rPr lang="tr-TR" dirty="0"/>
              <a:t>ç</a:t>
            </a:r>
            <a:r>
              <a:rPr lang="en-US" dirty="0"/>
              <a:t>İ</a:t>
            </a:r>
            <a:r>
              <a:rPr lang="tr-TR" dirty="0"/>
              <a:t>n t</a:t>
            </a:r>
            <a:r>
              <a:rPr lang="en-US" dirty="0"/>
              <a:t>I</a:t>
            </a:r>
            <a:r>
              <a:rPr lang="tr-TR" dirty="0"/>
              <a:t>klat</a:t>
            </a:r>
            <a:r>
              <a:rPr lang="en-US" dirty="0"/>
              <a:t>I</a:t>
            </a:r>
            <a:r>
              <a:rPr lang="tr-TR" dirty="0"/>
              <a:t>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24D7A41-DB7E-4B7C-B1E7-203553C448B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5320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0E408D4-2E9F-4A26-A3CA-FB0C52E2551E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3787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183EE2D-B193-4DF7-8E07-E2831ABD391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144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B0A55CB-0D82-4FA8-8283-1D0C577030E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37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6E3BFC5-E015-41F6-9033-8F7EE7066BAD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650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409A257-28E3-40ED-A2ED-369606B291D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96285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89FACF8-D009-4AE7-A9E5-7C11E06AD1D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7693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CEBBE5D-72DA-403E-982F-97DD55B3986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1134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81800" y="106363"/>
            <a:ext cx="2209800" cy="6218237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" y="106363"/>
            <a:ext cx="6477000" cy="621823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C6C3EE3-4607-44C8-828A-37A7AE25514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43115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6363"/>
            <a:ext cx="8534400" cy="579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  <a:prstGeom prst="rect">
            <a:avLst/>
          </a:prstGeom>
        </p:spPr>
        <p:txBody>
          <a:bodyPr/>
          <a:lstStyle/>
          <a:p>
            <a:fld id="{68795CC5-F219-49B7-9754-EF0E854EBEB8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8137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Click to edit Master text styles</a:t>
            </a:r>
          </a:p>
          <a:p>
            <a:pPr lvl="1"/>
            <a:r>
              <a:rPr lang="tr-TR" altLang="en-US" dirty="0"/>
              <a:t>Second level</a:t>
            </a:r>
          </a:p>
          <a:p>
            <a:pPr lvl="2"/>
            <a:r>
              <a:rPr lang="tr-TR" altLang="en-US" dirty="0"/>
              <a:t>Third level</a:t>
            </a:r>
          </a:p>
          <a:p>
            <a:pPr lvl="3"/>
            <a:r>
              <a:rPr lang="tr-TR" altLang="en-US" dirty="0"/>
              <a:t>Fourth level</a:t>
            </a:r>
          </a:p>
          <a:p>
            <a:pPr lvl="4"/>
            <a:r>
              <a:rPr lang="tr-TR" altLang="en-US" dirty="0"/>
              <a:t>Fifth level</a:t>
            </a:r>
          </a:p>
        </p:txBody>
      </p:sp>
      <p:sp>
        <p:nvSpPr>
          <p:cNvPr id="35890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457200" cy="7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FFFFE5"/>
                </a:solidFill>
              </a:defRPr>
            </a:lvl1pPr>
          </a:lstStyle>
          <a:p>
            <a:fld id="{68795CC5-F219-49B7-9754-EF0E854EBEB8}" type="slidenum">
              <a:rPr lang="tr-TR" altLang="en-US"/>
              <a:pPr/>
              <a:t>‹#›</a:t>
            </a:fld>
            <a:endParaRPr lang="tr-TR" altLang="en-US" dirty="0"/>
          </a:p>
        </p:txBody>
      </p:sp>
      <p:sp>
        <p:nvSpPr>
          <p:cNvPr id="1030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 dirty="0"/>
          </a:p>
        </p:txBody>
      </p:sp>
      <p:sp>
        <p:nvSpPr>
          <p:cNvPr id="103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06363"/>
            <a:ext cx="784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Başlık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2209800"/>
            <a:ext cx="8763000" cy="1524000"/>
          </a:xfrm>
        </p:spPr>
        <p:txBody>
          <a:bodyPr/>
          <a:lstStyle/>
          <a:p>
            <a:pPr eaLnBrk="1" hangingPunct="1"/>
            <a:r>
              <a:rPr lang="tr-TR" altLang="en-US" sz="3600" dirty="0">
                <a:solidFill>
                  <a:schemeClr val="bg1"/>
                </a:solidFill>
              </a:rPr>
              <a:t>BILBOARD DETECTION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10000"/>
            <a:ext cx="64008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>
                <a:solidFill>
                  <a:schemeClr val="bg1"/>
                </a:solidFill>
              </a:rPr>
              <a:t>CSE 464/564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>
                <a:solidFill>
                  <a:schemeClr val="bg1"/>
                </a:solidFill>
              </a:rPr>
              <a:t>FINAL Presentation</a:t>
            </a:r>
            <a:endParaRPr lang="en-US" altLang="en-US" sz="20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tr-TR" altLang="en-US" sz="1400" dirty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tr-TR" altLang="en-US" sz="1400" dirty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>
                <a:solidFill>
                  <a:schemeClr val="bg1"/>
                </a:solidFill>
              </a:rPr>
              <a:t>Yunus KARA, Abdullah GÖKTÜRK</a:t>
            </a:r>
          </a:p>
          <a:p>
            <a:pPr eaLnBrk="1" hangingPunct="1">
              <a:lnSpc>
                <a:spcPct val="80000"/>
              </a:lnSpc>
            </a:pPr>
            <a:endParaRPr lang="tr-TR" altLang="en-US" sz="20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>
                <a:solidFill>
                  <a:schemeClr val="bg1"/>
                </a:solidFill>
              </a:rPr>
              <a:t>Project Advisor: </a:t>
            </a:r>
            <a:r>
              <a:rPr lang="tr-TR" altLang="en-US" sz="2000" b="1" dirty="0" err="1">
                <a:solidFill>
                  <a:schemeClr val="bg1"/>
                </a:solidFill>
              </a:rPr>
              <a:t>Assoc</a:t>
            </a:r>
            <a:r>
              <a:rPr lang="tr-TR" altLang="en-US" sz="2000" b="1" dirty="0">
                <a:solidFill>
                  <a:schemeClr val="bg1"/>
                </a:solidFill>
              </a:rPr>
              <a:t>. Prof. Dr. Habil Kalkan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1800" b="1" dirty="0" err="1">
                <a:solidFill>
                  <a:schemeClr val="bg1"/>
                </a:solidFill>
              </a:rPr>
              <a:t>January</a:t>
            </a:r>
            <a:r>
              <a:rPr lang="tr-TR" altLang="en-US" sz="1800" b="1" dirty="0">
                <a:solidFill>
                  <a:schemeClr val="bg1"/>
                </a:solidFill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79C4B9-F984-4206-AFD2-FD0541FAF3C1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tr-TR" altLang="en-US" sz="1000">
              <a:solidFill>
                <a:srgbClr val="FFFFE5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7467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Canny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edge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detection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Gaussian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Smoothing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Morphological</a:t>
            </a:r>
            <a:r>
              <a:rPr lang="tr-TR" altLang="en-US" sz="2000" dirty="0">
                <a:solidFill>
                  <a:schemeClr val="bg1"/>
                </a:solidFill>
              </a:rPr>
              <a:t> Operations (</a:t>
            </a:r>
            <a:r>
              <a:rPr lang="tr-TR" altLang="en-US" sz="2000" dirty="0" err="1">
                <a:solidFill>
                  <a:schemeClr val="bg1"/>
                </a:solidFill>
              </a:rPr>
              <a:t>dilation</a:t>
            </a:r>
            <a:r>
              <a:rPr lang="tr-TR" altLang="en-US" sz="2000" dirty="0">
                <a:solidFill>
                  <a:schemeClr val="bg1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Probabilistic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Hough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Transform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Flood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Fill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Algorithm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Binary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Masking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tr-TR" altLang="en-US" sz="2000" dirty="0" err="1">
                <a:solidFill>
                  <a:schemeClr val="bg1"/>
                </a:solidFill>
              </a:rPr>
              <a:t>Contour</a:t>
            </a:r>
            <a:r>
              <a:rPr lang="tr-TR" altLang="en-US" sz="2000" dirty="0">
                <a:solidFill>
                  <a:schemeClr val="bg1"/>
                </a:solidFill>
              </a:rPr>
              <a:t> </a:t>
            </a:r>
            <a:r>
              <a:rPr lang="tr-TR" altLang="en-US" sz="2000" dirty="0" err="1">
                <a:solidFill>
                  <a:schemeClr val="bg1"/>
                </a:solidFill>
              </a:rPr>
              <a:t>Detection</a:t>
            </a:r>
            <a:endParaRPr lang="tr-TR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tr-TR" altLang="en-US" sz="2400" dirty="0">
              <a:solidFill>
                <a:schemeClr val="bg1"/>
              </a:solidFill>
            </a:endParaRP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Used</a:t>
            </a:r>
            <a:r>
              <a:rPr lang="tr-TR" altLang="en-US" sz="4000" dirty="0"/>
              <a:t> </a:t>
            </a:r>
            <a:r>
              <a:rPr lang="tr-TR" altLang="en-US" sz="4000" dirty="0" err="1"/>
              <a:t>Techniques</a:t>
            </a:r>
            <a:endParaRPr lang="tr-TR" alt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90E943-3256-23B5-399C-E6A61573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Our</a:t>
            </a:r>
            <a:r>
              <a:rPr lang="tr-TR" dirty="0"/>
              <a:t> Test Image</a:t>
            </a:r>
          </a:p>
        </p:txBody>
      </p:sp>
      <p:pic>
        <p:nvPicPr>
          <p:cNvPr id="6" name="İçerik Yer Tutucusu 5" descr="metin, dış mekan, Reklamcılık, ilan panosu içeren bir resim&#10;&#10;Açıklama otomatik olarak oluşturuldu">
            <a:extLst>
              <a:ext uri="{FF2B5EF4-FFF2-40B4-BE49-F238E27FC236}">
                <a16:creationId xmlns:a16="http://schemas.microsoft.com/office/drawing/2014/main" id="{77A2A357-23C7-C06F-7B67-38DB23190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" y="762000"/>
            <a:ext cx="9144000" cy="6096000"/>
          </a:xfr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E953E91-C12E-2ADE-D70B-0B916B9E3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3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6347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842FD1-1030-8672-FADF-8B7E9E18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Grayscale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Image</a:t>
            </a:r>
          </a:p>
        </p:txBody>
      </p:sp>
      <p:pic>
        <p:nvPicPr>
          <p:cNvPr id="6" name="İçerik Yer Tutucusu 5" descr="metin, dış mekan, ilan panosu, Reklamcılık içeren bir resim&#10;&#10;Açıklama otomatik olarak oluşturuldu">
            <a:extLst>
              <a:ext uri="{FF2B5EF4-FFF2-40B4-BE49-F238E27FC236}">
                <a16:creationId xmlns:a16="http://schemas.microsoft.com/office/drawing/2014/main" id="{412A1790-0ED6-E073-3A57-0D96E8C0E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1999"/>
            <a:ext cx="9144000" cy="6121831"/>
          </a:xfr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E0E254E-EB80-C8CB-738B-506FB80B8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2817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ED054F-FB0B-4F9F-8508-286B83CB129D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Canny</a:t>
            </a:r>
            <a:r>
              <a:rPr lang="tr-TR" altLang="en-US" sz="4000" dirty="0"/>
              <a:t> </a:t>
            </a:r>
            <a:r>
              <a:rPr lang="tr-TR" altLang="en-US" sz="4000" dirty="0" err="1"/>
              <a:t>Edge</a:t>
            </a:r>
            <a:r>
              <a:rPr lang="tr-TR" altLang="en-US" sz="4000" dirty="0"/>
              <a:t> </a:t>
            </a:r>
            <a:r>
              <a:rPr lang="tr-TR" altLang="en-US" sz="4000" dirty="0" err="1"/>
              <a:t>Detection</a:t>
            </a:r>
            <a:r>
              <a:rPr lang="tr-TR" altLang="en-US" sz="4000" dirty="0"/>
              <a:t> </a:t>
            </a:r>
          </a:p>
        </p:txBody>
      </p:sp>
      <p:sp>
        <p:nvSpPr>
          <p:cNvPr id="9222" name="Rectangle 8"/>
          <p:cNvSpPr>
            <a:spLocks noChangeArrowheads="1"/>
          </p:cNvSpPr>
          <p:nvPr/>
        </p:nvSpPr>
        <p:spPr bwMode="auto">
          <a:xfrm>
            <a:off x="304800" y="4876800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pic>
        <p:nvPicPr>
          <p:cNvPr id="5" name="Resim 4" descr="metin, monokrom, tek renkli, çizim, siyah beyaz içeren bir resim&#10;&#10;Açıklama otomatik olarak oluşturuldu">
            <a:extLst>
              <a:ext uri="{FF2B5EF4-FFF2-40B4-BE49-F238E27FC236}">
                <a16:creationId xmlns:a16="http://schemas.microsoft.com/office/drawing/2014/main" id="{C2B2868A-1BE9-72F2-F463-38BF10169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6" y="838199"/>
            <a:ext cx="9034604" cy="6044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43FF54-A447-3B15-C0B2-C4A85D28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Dilation</a:t>
            </a:r>
            <a:endParaRPr lang="tr-TR" dirty="0"/>
          </a:p>
        </p:txBody>
      </p:sp>
      <p:pic>
        <p:nvPicPr>
          <p:cNvPr id="6" name="İçerik Yer Tutucusu 5" descr="metin, siyah beyaz, otomat (meşrubat, oyun vs.), çizim içeren bir resim&#10;&#10;Açıklama otomatik olarak oluşturuldu">
            <a:extLst>
              <a:ext uri="{FF2B5EF4-FFF2-40B4-BE49-F238E27FC236}">
                <a16:creationId xmlns:a16="http://schemas.microsoft.com/office/drawing/2014/main" id="{AEC4991F-BE44-9C4D-E97C-C78F7DEBF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07" y="762000"/>
            <a:ext cx="8973493" cy="5980950"/>
          </a:xfr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05CE3A6-54E7-F466-FAED-EFEEB5931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6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90747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473218-1227-5620-25DE-D38A2AC7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Probabilistic</a:t>
            </a:r>
            <a:r>
              <a:rPr lang="tr-TR" dirty="0"/>
              <a:t> </a:t>
            </a:r>
            <a:r>
              <a:rPr lang="tr-TR" dirty="0" err="1"/>
              <a:t>Hough</a:t>
            </a:r>
            <a:r>
              <a:rPr lang="tr-TR" dirty="0"/>
              <a:t> </a:t>
            </a:r>
            <a:r>
              <a:rPr lang="tr-TR" dirty="0" err="1"/>
              <a:t>Line</a:t>
            </a:r>
            <a:endParaRPr lang="tr-TR" dirty="0"/>
          </a:p>
        </p:txBody>
      </p:sp>
      <p:pic>
        <p:nvPicPr>
          <p:cNvPr id="6" name="İçerik Yer Tutucusu 5" descr="sanat, devre, renklilik içeren bir resim&#10;&#10;Açıklama otomatik olarak oluşturuldu">
            <a:extLst>
              <a:ext uri="{FF2B5EF4-FFF2-40B4-BE49-F238E27FC236}">
                <a16:creationId xmlns:a16="http://schemas.microsoft.com/office/drawing/2014/main" id="{4D8A163A-DA4C-973F-CC3E-76D199FD4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8839200" cy="5916509"/>
          </a:xfr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134A0C8-CB54-F653-2CCF-C974ADDB4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7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28793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ED054F-FB0B-4F9F-8508-286B83CB129D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Dilation</a:t>
            </a:r>
            <a:endParaRPr lang="tr-TR" altLang="en-US" sz="4000" dirty="0"/>
          </a:p>
        </p:txBody>
      </p:sp>
      <p:sp>
        <p:nvSpPr>
          <p:cNvPr id="9221" name="Rectangle 7"/>
          <p:cNvSpPr>
            <a:spLocks noChangeArrowheads="1"/>
          </p:cNvSpPr>
          <p:nvPr/>
        </p:nvSpPr>
        <p:spPr bwMode="auto">
          <a:xfrm>
            <a:off x="304800" y="4724400"/>
            <a:ext cx="441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tr-TR" altLang="en-US" sz="2800" dirty="0"/>
          </a:p>
        </p:txBody>
      </p:sp>
      <p:pic>
        <p:nvPicPr>
          <p:cNvPr id="3" name="Resim 2" descr="sanat, renklilik, yeşil, grafik içeren bir resim&#10;&#10;Açıklama otomatik olarak oluşturuldu">
            <a:extLst>
              <a:ext uri="{FF2B5EF4-FFF2-40B4-BE49-F238E27FC236}">
                <a16:creationId xmlns:a16="http://schemas.microsoft.com/office/drawing/2014/main" id="{E12B27DF-9513-4565-953D-F19F0C177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29580"/>
            <a:ext cx="8978774" cy="600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1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DCC3-5696-F0B5-B8A4-30A5750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>
            <a:extLst>
              <a:ext uri="{FF2B5EF4-FFF2-40B4-BE49-F238E27FC236}">
                <a16:creationId xmlns:a16="http://schemas.microsoft.com/office/drawing/2014/main" id="{8CBEDFDF-7BB0-068C-4201-5823A71FE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6F119CE-8173-84BA-FF5D-5ECE9B105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 err="1"/>
              <a:t>Flood</a:t>
            </a:r>
            <a:r>
              <a:rPr lang="tr-TR" altLang="en-US" sz="4000" dirty="0"/>
              <a:t> </a:t>
            </a:r>
            <a:r>
              <a:rPr lang="tr-TR" altLang="en-US" sz="4000" dirty="0" err="1"/>
              <a:t>Fill</a:t>
            </a:r>
            <a:endParaRPr lang="tr-TR" altLang="en-US" sz="4000" dirty="0"/>
          </a:p>
        </p:txBody>
      </p:sp>
      <p:pic>
        <p:nvPicPr>
          <p:cNvPr id="3" name="Resim 2" descr="renklilik, grafik, ekran görüntüsü, sanat içeren bir resim&#10;&#10;Açıklama otomatik olarak oluşturuldu">
            <a:extLst>
              <a:ext uri="{FF2B5EF4-FFF2-40B4-BE49-F238E27FC236}">
                <a16:creationId xmlns:a16="http://schemas.microsoft.com/office/drawing/2014/main" id="{BAC09F60-E004-304F-4688-01BB3EAB7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9144000" cy="60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95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/>
              <a:t>Active </a:t>
            </a:r>
            <a:r>
              <a:rPr lang="tr-TR" altLang="en-US" sz="4000" dirty="0" err="1"/>
              <a:t>Contour</a:t>
            </a:r>
            <a:endParaRPr lang="tr-TR" altLang="en-US" sz="4000" dirty="0"/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133600" y="3124200"/>
            <a:ext cx="441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pic>
        <p:nvPicPr>
          <p:cNvPr id="3" name="Resim 2" descr="siyah, dikdörtgen, ekran görüntüsü, siyah beyaz içeren bir resim&#10;&#10;Açıklama otomatik olarak oluşturuldu">
            <a:extLst>
              <a:ext uri="{FF2B5EF4-FFF2-40B4-BE49-F238E27FC236}">
                <a16:creationId xmlns:a16="http://schemas.microsoft.com/office/drawing/2014/main" id="{8BD71264-E014-7F4A-A0E1-6F4C2FA06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4400"/>
            <a:ext cx="8935127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33BC9-A97B-4126-BA35-8564686F79B6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Final </a:t>
            </a:r>
            <a:r>
              <a:rPr lang="tr-TR" altLang="en-US" sz="4000" dirty="0" err="1"/>
              <a:t>Output</a:t>
            </a:r>
            <a:endParaRPr lang="tr-TR" altLang="en-US" sz="4000" dirty="0"/>
          </a:p>
        </p:txBody>
      </p:sp>
      <p:pic>
        <p:nvPicPr>
          <p:cNvPr id="3" name="Resim 2" descr="metin, dış mekan, Reklamcılık, ilan panosu içeren bir resim&#10;&#10;Açıklama otomatik olarak oluşturuldu">
            <a:extLst>
              <a:ext uri="{FF2B5EF4-FFF2-40B4-BE49-F238E27FC236}">
                <a16:creationId xmlns:a16="http://schemas.microsoft.com/office/drawing/2014/main" id="{DB58D874-2F66-613E-777E-21485554A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" y="762000"/>
            <a:ext cx="9079694" cy="6019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Other</a:t>
            </a:r>
            <a:r>
              <a:rPr lang="tr-TR" altLang="en-US" sz="4000" dirty="0"/>
              <a:t> </a:t>
            </a:r>
            <a:r>
              <a:rPr lang="tr-TR" altLang="en-US" sz="4000" dirty="0" err="1"/>
              <a:t>Bilboards</a:t>
            </a:r>
            <a:endParaRPr lang="tr-TR" altLang="en-US" sz="4000" dirty="0"/>
          </a:p>
        </p:txBody>
      </p:sp>
      <p:pic>
        <p:nvPicPr>
          <p:cNvPr id="10" name="İçerik Yer Tutucusu 9" descr="grafik tasarım, grafik, renklilik, sanat içeren bir resim&#10;&#10;Açıklama otomatik olarak oluşturuldu">
            <a:extLst>
              <a:ext uri="{FF2B5EF4-FFF2-40B4-BE49-F238E27FC236}">
                <a16:creationId xmlns:a16="http://schemas.microsoft.com/office/drawing/2014/main" id="{041C82DD-94AE-11DF-E175-C8029E20B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762001"/>
            <a:ext cx="4183530" cy="4495800"/>
          </a:xfrm>
        </p:spPr>
      </p:pic>
      <p:pic>
        <p:nvPicPr>
          <p:cNvPr id="12" name="Resim 11" descr="ekran görüntüsü, dikdörtgen, siyah, kare içeren bir resim&#10;&#10;Açıklama otomatik olarak oluşturuldu">
            <a:extLst>
              <a:ext uri="{FF2B5EF4-FFF2-40B4-BE49-F238E27FC236}">
                <a16:creationId xmlns:a16="http://schemas.microsoft.com/office/drawing/2014/main" id="{D857333C-6089-EAFF-3671-450CCB154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497411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0E14-A651-5443-3903-A0C753DF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>
            <a:extLst>
              <a:ext uri="{FF2B5EF4-FFF2-40B4-BE49-F238E27FC236}">
                <a16:creationId xmlns:a16="http://schemas.microsoft.com/office/drawing/2014/main" id="{22878F04-1F02-3603-4785-30438C123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AB1D25C8-9BC2-49EC-0B0C-F4FBE0167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Other</a:t>
            </a:r>
            <a:r>
              <a:rPr lang="tr-TR" altLang="en-US" sz="4000" dirty="0"/>
              <a:t> </a:t>
            </a:r>
            <a:r>
              <a:rPr lang="tr-TR" altLang="en-US" sz="4000" dirty="0" err="1"/>
              <a:t>Bilboards</a:t>
            </a:r>
            <a:endParaRPr lang="tr-TR" altLang="en-US" sz="4000" dirty="0"/>
          </a:p>
        </p:txBody>
      </p:sp>
      <p:pic>
        <p:nvPicPr>
          <p:cNvPr id="4" name="İçerik Yer Tutucusu 3" descr="grafik, renklilik, ekran görüntüsü, grafik tasarım içeren bir resim&#10;&#10;Açıklama otomatik olarak oluşturuldu">
            <a:extLst>
              <a:ext uri="{FF2B5EF4-FFF2-40B4-BE49-F238E27FC236}">
                <a16:creationId xmlns:a16="http://schemas.microsoft.com/office/drawing/2014/main" id="{4DB46C25-5D14-4309-FBCE-9F445009A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869" y="762000"/>
            <a:ext cx="4162131" cy="3124200"/>
          </a:xfrm>
        </p:spPr>
      </p:pic>
      <p:pic>
        <p:nvPicPr>
          <p:cNvPr id="3" name="Resim 2" descr="taslak, siyah, siyah beyaz, metin içeren bir resim&#10;&#10;Açıklama otomatik olarak oluşturuldu">
            <a:extLst>
              <a:ext uri="{FF2B5EF4-FFF2-40B4-BE49-F238E27FC236}">
                <a16:creationId xmlns:a16="http://schemas.microsoft.com/office/drawing/2014/main" id="{EB23971C-010D-0E35-FF80-84325B24B0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62000"/>
            <a:ext cx="4267200" cy="3203068"/>
          </a:xfrm>
          <a:prstGeom prst="rect">
            <a:avLst/>
          </a:prstGeom>
        </p:spPr>
      </p:pic>
      <p:pic>
        <p:nvPicPr>
          <p:cNvPr id="6" name="Resim 5" descr="metin, dış mekan, gökyüzü, ilan panosu içeren bir resim&#10;&#10;Açıklama otomatik olarak oluşturuldu">
            <a:extLst>
              <a:ext uri="{FF2B5EF4-FFF2-40B4-BE49-F238E27FC236}">
                <a16:creationId xmlns:a16="http://schemas.microsoft.com/office/drawing/2014/main" id="{77309746-C15E-1F76-19A8-2E20FD1EF2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962400"/>
            <a:ext cx="4491993" cy="253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4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C32C-53B9-014B-94BE-D6A73F4E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>
            <a:extLst>
              <a:ext uri="{FF2B5EF4-FFF2-40B4-BE49-F238E27FC236}">
                <a16:creationId xmlns:a16="http://schemas.microsoft.com/office/drawing/2014/main" id="{20F56BBB-2EAA-1F55-265B-84A6CAFA9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FF1D9C70-3147-684B-C581-2ACBB5E46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Other</a:t>
            </a:r>
            <a:r>
              <a:rPr lang="tr-TR" altLang="en-US" sz="4000" dirty="0"/>
              <a:t> </a:t>
            </a:r>
            <a:r>
              <a:rPr lang="tr-TR" altLang="en-US" sz="4000" dirty="0" err="1"/>
              <a:t>Bilboards</a:t>
            </a:r>
            <a:endParaRPr lang="tr-TR" altLang="en-US" sz="4000" dirty="0"/>
          </a:p>
        </p:txBody>
      </p:sp>
      <p:pic>
        <p:nvPicPr>
          <p:cNvPr id="7" name="Resim 6" descr="bilgisayar, ekran, görüntüleme, 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20A8A0A5-D9BC-C426-825A-FCD16B9D3C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120" y="762000"/>
            <a:ext cx="4219880" cy="3679059"/>
          </a:xfrm>
          <a:prstGeom prst="rect">
            <a:avLst/>
          </a:prstGeom>
        </p:spPr>
      </p:pic>
      <p:pic>
        <p:nvPicPr>
          <p:cNvPr id="9" name="Resim 8" descr="ekran görüntüsü, siyah, dikdörtgen, siyah beyaz içeren bir resim&#10;&#10;Açıklama otomatik olarak oluşturuldu">
            <a:extLst>
              <a:ext uri="{FF2B5EF4-FFF2-40B4-BE49-F238E27FC236}">
                <a16:creationId xmlns:a16="http://schemas.microsoft.com/office/drawing/2014/main" id="{19614408-EFA8-1C0C-0939-5AC8D64E49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" y="762000"/>
            <a:ext cx="3651738" cy="3183730"/>
          </a:xfrm>
          <a:prstGeom prst="rect">
            <a:avLst/>
          </a:prstGeom>
        </p:spPr>
      </p:pic>
      <p:pic>
        <p:nvPicPr>
          <p:cNvPr id="11" name="Resim 10" descr="metin, dış mekan, gökyüzü, bulut içeren bir resim&#10;&#10;Açıklama otomatik olarak oluşturuldu">
            <a:extLst>
              <a:ext uri="{FF2B5EF4-FFF2-40B4-BE49-F238E27FC236}">
                <a16:creationId xmlns:a16="http://schemas.microsoft.com/office/drawing/2014/main" id="{58180EC2-3B57-9D85-8EF7-9499ADB834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200400"/>
            <a:ext cx="3774801" cy="32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12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D5A2AA-51EC-48B0-3BDA-AA2C3504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Bilboards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3EBEAC8-D904-C83B-D263-AAE4C42F1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15</a:t>
            </a:fld>
            <a:endParaRPr lang="tr-TR" altLang="en-US"/>
          </a:p>
        </p:txBody>
      </p:sp>
      <p:pic>
        <p:nvPicPr>
          <p:cNvPr id="15" name="Resim 14" descr="taslak, ekran görüntüsü, siyah, siyah beyaz içeren bir resim&#10;&#10;Açıklama otomatik olarak oluşturuldu">
            <a:extLst>
              <a:ext uri="{FF2B5EF4-FFF2-40B4-BE49-F238E27FC236}">
                <a16:creationId xmlns:a16="http://schemas.microsoft.com/office/drawing/2014/main" id="{E7FB80EE-8AF8-CEB6-7CE1-055690613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2" y="762000"/>
            <a:ext cx="4972960" cy="5029200"/>
          </a:xfrm>
          <a:prstGeom prst="rect">
            <a:avLst/>
          </a:prstGeom>
        </p:spPr>
      </p:pic>
      <p:pic>
        <p:nvPicPr>
          <p:cNvPr id="17" name="Resim 16" descr="sanat içeren bir resim&#10;&#10;Açıklama otomatik olarak oluşturuldu">
            <a:extLst>
              <a:ext uri="{FF2B5EF4-FFF2-40B4-BE49-F238E27FC236}">
                <a16:creationId xmlns:a16="http://schemas.microsoft.com/office/drawing/2014/main" id="{7E12DECD-C8D3-5884-5380-96C2287D8D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838200"/>
            <a:ext cx="3856376" cy="4495800"/>
          </a:xfrm>
          <a:prstGeom prst="rect">
            <a:avLst/>
          </a:prstGeom>
        </p:spPr>
      </p:pic>
      <p:pic>
        <p:nvPicPr>
          <p:cNvPr id="19" name="Resim 18" descr="metin, bina, dış mekan, ilan panosu içeren bir resim&#10;&#10;Açıklama otomatik olarak oluşturuldu">
            <a:extLst>
              <a:ext uri="{FF2B5EF4-FFF2-40B4-BE49-F238E27FC236}">
                <a16:creationId xmlns:a16="http://schemas.microsoft.com/office/drawing/2014/main" id="{F2F097CA-F67C-9F1E-542A-CF7E40CA79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810000"/>
            <a:ext cx="2027576" cy="263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83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8EC7BF-CCF8-5C5C-363F-83A6F841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Failures</a:t>
            </a:r>
            <a:endParaRPr lang="tr-TR" dirty="0"/>
          </a:p>
        </p:txBody>
      </p:sp>
      <p:pic>
        <p:nvPicPr>
          <p:cNvPr id="6" name="İçerik Yer Tutucusu 5" descr="metin, taslak, çizim, sanat içeren bir resim&#10;&#10;Açıklama otomatik olarak oluşturuldu">
            <a:extLst>
              <a:ext uri="{FF2B5EF4-FFF2-40B4-BE49-F238E27FC236}">
                <a16:creationId xmlns:a16="http://schemas.microsoft.com/office/drawing/2014/main" id="{C7DD5C46-C1BF-1C50-8AD7-177CA1FF9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47800"/>
            <a:ext cx="4572000" cy="3124200"/>
          </a:xfr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03DD24B-FCA8-9403-D460-85E92D975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16</a:t>
            </a:fld>
            <a:endParaRPr lang="tr-TR" altLang="en-US"/>
          </a:p>
        </p:txBody>
      </p:sp>
      <p:pic>
        <p:nvPicPr>
          <p:cNvPr id="8" name="Resim 7" descr="ekran görüntüsü, Majorelle Blue, sanat içeren bir resim&#10;&#10;Açıklama otomatik olarak oluşturuldu">
            <a:extLst>
              <a:ext uri="{FF2B5EF4-FFF2-40B4-BE49-F238E27FC236}">
                <a16:creationId xmlns:a16="http://schemas.microsoft.com/office/drawing/2014/main" id="{6ACCE41F-FC95-15E2-5508-038B41F653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20" y="838200"/>
            <a:ext cx="4360985" cy="383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53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E399-C51B-94C6-7B4E-CBBDCE1C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C5FC8F-64DC-686A-5285-51E0DA01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Failures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9BCF8DC-7A11-A190-22B5-003B29116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17</a:t>
            </a:fld>
            <a:endParaRPr lang="tr-TR" altLang="en-US"/>
          </a:p>
        </p:txBody>
      </p:sp>
      <p:pic>
        <p:nvPicPr>
          <p:cNvPr id="7" name="Resim 6" descr="sanat, grafik, Majorelle Blue içeren bir resim&#10;&#10;Açıklama otomatik olarak oluşturuldu">
            <a:extLst>
              <a:ext uri="{FF2B5EF4-FFF2-40B4-BE49-F238E27FC236}">
                <a16:creationId xmlns:a16="http://schemas.microsoft.com/office/drawing/2014/main" id="{296606EE-7B02-CC5F-B17F-C1B480E30C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767" y="838200"/>
            <a:ext cx="4354461" cy="2667000"/>
          </a:xfrm>
          <a:prstGeom prst="rect">
            <a:avLst/>
          </a:prstGeom>
        </p:spPr>
      </p:pic>
      <p:pic>
        <p:nvPicPr>
          <p:cNvPr id="10" name="Resim 9" descr="metin, taslak, siyah, siyah beyaz içeren bir resim&#10;&#10;Açıklama otomatik olarak oluşturuldu">
            <a:extLst>
              <a:ext uri="{FF2B5EF4-FFF2-40B4-BE49-F238E27FC236}">
                <a16:creationId xmlns:a16="http://schemas.microsoft.com/office/drawing/2014/main" id="{A4366AA5-E476-C52B-8502-99518A01DE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47" y="762000"/>
            <a:ext cx="4750322" cy="2743200"/>
          </a:xfrm>
          <a:prstGeom prst="rect">
            <a:avLst/>
          </a:prstGeom>
        </p:spPr>
      </p:pic>
      <p:pic>
        <p:nvPicPr>
          <p:cNvPr id="12" name="Resim 11" descr="metin, dış mekan, ilan panosu, gökyüzü içeren bir resim&#10;&#10;Açıklama otomatik olarak oluşturuldu">
            <a:extLst>
              <a:ext uri="{FF2B5EF4-FFF2-40B4-BE49-F238E27FC236}">
                <a16:creationId xmlns:a16="http://schemas.microsoft.com/office/drawing/2014/main" id="{E2AF850E-19FC-06F7-9492-FFC188E5E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532041"/>
            <a:ext cx="4953000" cy="286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99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D8AB0A-D51F-497D-9892-E75B8E184080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tr-TR" altLang="en-US" sz="1000">
              <a:solidFill>
                <a:srgbClr val="FFFFE5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References</a:t>
            </a:r>
            <a:endParaRPr lang="tr-TR" altLang="en-US" sz="40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Canny, J. (1986). A computational approach to edge detection. IEEE Transactions on Pattern Analysis and Machine Intelligence, (6), 679-698.</a:t>
            </a:r>
            <a:endParaRPr lang="tr-TR" sz="2000" dirty="0">
              <a:solidFill>
                <a:schemeClr val="bg1"/>
              </a:solidFill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tr-TR" sz="1800" dirty="0" err="1">
                <a:solidFill>
                  <a:schemeClr val="bg1"/>
                </a:solidFill>
              </a:rPr>
              <a:t>OpenCV</a:t>
            </a:r>
            <a:r>
              <a:rPr lang="tr-TR" sz="1800" dirty="0">
                <a:solidFill>
                  <a:schemeClr val="bg1"/>
                </a:solidFill>
              </a:rPr>
              <a:t>, “Image </a:t>
            </a:r>
            <a:r>
              <a:rPr lang="tr-TR" sz="1800" dirty="0" err="1">
                <a:solidFill>
                  <a:schemeClr val="bg1"/>
                </a:solidFill>
              </a:rPr>
              <a:t>Filtering</a:t>
            </a:r>
            <a:r>
              <a:rPr lang="tr-TR" sz="1800" dirty="0">
                <a:solidFill>
                  <a:schemeClr val="bg1"/>
                </a:solidFill>
              </a:rPr>
              <a:t>,” https://docs.opencv.org/4.x/d4/d13/ tutorial_py_filtering.html</a:t>
            </a:r>
            <a:endParaRPr lang="tr-TR" sz="2000" dirty="0">
              <a:solidFill>
                <a:schemeClr val="bg1"/>
              </a:solidFill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Sobel, Irwin. (2014). An Isotropic 3x3 Image Gradient Operator. Presentation at Stanford A.I. Project 1968. </a:t>
            </a:r>
            <a:endParaRPr lang="tr-TR" sz="2000" dirty="0">
              <a:solidFill>
                <a:schemeClr val="bg1"/>
              </a:solidFill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tr-TR" sz="1800" dirty="0">
                <a:solidFill>
                  <a:schemeClr val="bg1"/>
                </a:solidFill>
              </a:rPr>
              <a:t>C. </a:t>
            </a:r>
            <a:r>
              <a:rPr lang="tr-TR" sz="1800" dirty="0" err="1">
                <a:solidFill>
                  <a:schemeClr val="bg1"/>
                </a:solidFill>
              </a:rPr>
              <a:t>Galamhos</a:t>
            </a:r>
            <a:r>
              <a:rPr lang="tr-TR" sz="1800" dirty="0">
                <a:solidFill>
                  <a:schemeClr val="bg1"/>
                </a:solidFill>
              </a:rPr>
              <a:t>, J. </a:t>
            </a:r>
            <a:r>
              <a:rPr lang="tr-TR" sz="1800" dirty="0" err="1">
                <a:solidFill>
                  <a:schemeClr val="bg1"/>
                </a:solidFill>
              </a:rPr>
              <a:t>Matas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and</a:t>
            </a:r>
            <a:r>
              <a:rPr lang="tr-TR" sz="1800" dirty="0">
                <a:solidFill>
                  <a:schemeClr val="bg1"/>
                </a:solidFill>
              </a:rPr>
              <a:t> J. </a:t>
            </a:r>
            <a:r>
              <a:rPr lang="tr-TR" sz="1800" dirty="0" err="1">
                <a:solidFill>
                  <a:schemeClr val="bg1"/>
                </a:solidFill>
              </a:rPr>
              <a:t>Kittler</a:t>
            </a:r>
            <a:r>
              <a:rPr lang="tr-TR" sz="1800" dirty="0">
                <a:solidFill>
                  <a:schemeClr val="bg1"/>
                </a:solidFill>
              </a:rPr>
              <a:t>, "</a:t>
            </a:r>
            <a:r>
              <a:rPr lang="tr-TR" sz="1800" dirty="0" err="1">
                <a:solidFill>
                  <a:schemeClr val="bg1"/>
                </a:solidFill>
              </a:rPr>
              <a:t>Progressive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probabilistic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Hough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transform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for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line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detection</a:t>
            </a:r>
            <a:r>
              <a:rPr lang="tr-TR" sz="1800" dirty="0">
                <a:solidFill>
                  <a:schemeClr val="bg1"/>
                </a:solidFill>
              </a:rPr>
              <a:t>," </a:t>
            </a:r>
            <a:r>
              <a:rPr lang="tr-TR" sz="1800" dirty="0" err="1">
                <a:solidFill>
                  <a:schemeClr val="bg1"/>
                </a:solidFill>
              </a:rPr>
              <a:t>Proceedings</a:t>
            </a:r>
            <a:r>
              <a:rPr lang="tr-TR" sz="1800" dirty="0">
                <a:solidFill>
                  <a:schemeClr val="bg1"/>
                </a:solidFill>
              </a:rPr>
              <a:t>. 1999 IEEE </a:t>
            </a:r>
            <a:r>
              <a:rPr lang="tr-TR" sz="1800" dirty="0" err="1">
                <a:solidFill>
                  <a:schemeClr val="bg1"/>
                </a:solidFill>
              </a:rPr>
              <a:t>Computer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Society</a:t>
            </a:r>
            <a:r>
              <a:rPr lang="tr-TR" sz="1800" dirty="0">
                <a:solidFill>
                  <a:schemeClr val="bg1"/>
                </a:solidFill>
              </a:rPr>
              <a:t> Conference on </a:t>
            </a:r>
            <a:r>
              <a:rPr lang="tr-TR" sz="1800" dirty="0" err="1">
                <a:solidFill>
                  <a:schemeClr val="bg1"/>
                </a:solidFill>
              </a:rPr>
              <a:t>Computer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Vision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and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Pattern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Recognition</a:t>
            </a:r>
            <a:r>
              <a:rPr lang="tr-TR" sz="1800" dirty="0">
                <a:solidFill>
                  <a:schemeClr val="bg1"/>
                </a:solidFill>
              </a:rPr>
              <a:t> (</a:t>
            </a:r>
            <a:r>
              <a:rPr lang="tr-TR" sz="1800" dirty="0" err="1">
                <a:solidFill>
                  <a:schemeClr val="bg1"/>
                </a:solidFill>
              </a:rPr>
              <a:t>Cat</a:t>
            </a:r>
            <a:r>
              <a:rPr lang="tr-TR" sz="1800" dirty="0">
                <a:solidFill>
                  <a:schemeClr val="bg1"/>
                </a:solidFill>
              </a:rPr>
              <a:t>. No PR00149), Fort Collins, CO, USA, 1999, </a:t>
            </a:r>
            <a:r>
              <a:rPr lang="tr-TR" sz="1800" dirty="0" err="1">
                <a:solidFill>
                  <a:schemeClr val="bg1"/>
                </a:solidFill>
              </a:rPr>
              <a:t>pp</a:t>
            </a:r>
            <a:r>
              <a:rPr lang="tr-TR" sz="1800" dirty="0">
                <a:solidFill>
                  <a:schemeClr val="bg1"/>
                </a:solidFill>
              </a:rPr>
              <a:t>. 554-560 </a:t>
            </a:r>
            <a:r>
              <a:rPr lang="tr-TR" sz="1800" dirty="0" err="1">
                <a:solidFill>
                  <a:schemeClr val="bg1"/>
                </a:solidFill>
              </a:rPr>
              <a:t>Vol</a:t>
            </a:r>
            <a:r>
              <a:rPr lang="tr-TR" sz="1800" dirty="0">
                <a:solidFill>
                  <a:schemeClr val="bg1"/>
                </a:solidFill>
              </a:rPr>
              <a:t>. 1, </a:t>
            </a:r>
            <a:r>
              <a:rPr lang="tr-TR" sz="1800" dirty="0" err="1">
                <a:solidFill>
                  <a:schemeClr val="bg1"/>
                </a:solidFill>
              </a:rPr>
              <a:t>doi</a:t>
            </a:r>
            <a:r>
              <a:rPr lang="tr-TR" sz="1800" dirty="0">
                <a:solidFill>
                  <a:schemeClr val="bg1"/>
                </a:solidFill>
              </a:rPr>
              <a:t>: 10.1109/CVPR.1999.786993. </a:t>
            </a:r>
            <a:r>
              <a:rPr lang="tr-TR" sz="1800" dirty="0" err="1">
                <a:solidFill>
                  <a:schemeClr val="bg1"/>
                </a:solidFill>
              </a:rPr>
              <a:t>keywords</a:t>
            </a:r>
            <a:r>
              <a:rPr lang="tr-TR" sz="1800" dirty="0">
                <a:solidFill>
                  <a:schemeClr val="bg1"/>
                </a:solidFill>
              </a:rPr>
              <a:t>: </a:t>
            </a:r>
            <a:r>
              <a:rPr lang="tr-TR" sz="1800" dirty="0" err="1">
                <a:solidFill>
                  <a:schemeClr val="bg1"/>
                </a:solidFill>
              </a:rPr>
              <a:t>Voting;Monte</a:t>
            </a:r>
            <a:r>
              <a:rPr lang="tr-TR" sz="1800" dirty="0">
                <a:solidFill>
                  <a:schemeClr val="bg1"/>
                </a:solidFill>
              </a:rPr>
              <a:t> Carlo </a:t>
            </a:r>
            <a:r>
              <a:rPr lang="tr-TR" sz="1800" dirty="0" err="1">
                <a:solidFill>
                  <a:schemeClr val="bg1"/>
                </a:solidFill>
              </a:rPr>
              <a:t>methods;Error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analysis;Stability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criteria</a:t>
            </a:r>
            <a:r>
              <a:rPr lang="tr-TR" sz="1800" dirty="0">
                <a:solidFill>
                  <a:schemeClr val="bg1"/>
                </a:solidFill>
              </a:rPr>
              <a:t>.</a:t>
            </a:r>
            <a:endParaRPr lang="tr-TR" sz="2000" dirty="0">
              <a:solidFill>
                <a:schemeClr val="bg1"/>
              </a:solidFill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tr-TR" sz="1800" dirty="0" err="1">
                <a:solidFill>
                  <a:schemeClr val="bg1"/>
                </a:solidFill>
              </a:rPr>
              <a:t>Kass</a:t>
            </a:r>
            <a:r>
              <a:rPr lang="tr-TR" sz="1800" dirty="0">
                <a:solidFill>
                  <a:schemeClr val="bg1"/>
                </a:solidFill>
              </a:rPr>
              <a:t>, M., </a:t>
            </a:r>
            <a:r>
              <a:rPr lang="tr-TR" sz="1800" dirty="0" err="1">
                <a:solidFill>
                  <a:schemeClr val="bg1"/>
                </a:solidFill>
              </a:rPr>
              <a:t>Witkin</a:t>
            </a:r>
            <a:r>
              <a:rPr lang="tr-TR" sz="1800" dirty="0">
                <a:solidFill>
                  <a:schemeClr val="bg1"/>
                </a:solidFill>
              </a:rPr>
              <a:t>, A. , </a:t>
            </a:r>
            <a:r>
              <a:rPr lang="tr-TR" sz="1800" dirty="0" err="1">
                <a:solidFill>
                  <a:schemeClr val="bg1"/>
                </a:solidFill>
              </a:rPr>
              <a:t>Terzopoulos</a:t>
            </a:r>
            <a:r>
              <a:rPr lang="tr-TR" sz="1800" dirty="0">
                <a:solidFill>
                  <a:schemeClr val="bg1"/>
                </a:solidFill>
              </a:rPr>
              <a:t>, D. </a:t>
            </a:r>
            <a:r>
              <a:rPr lang="tr-TR" sz="1800" dirty="0" err="1">
                <a:solidFill>
                  <a:schemeClr val="bg1"/>
                </a:solidFill>
              </a:rPr>
              <a:t>Snakes</a:t>
            </a:r>
            <a:r>
              <a:rPr lang="tr-TR" sz="1800" dirty="0">
                <a:solidFill>
                  <a:schemeClr val="bg1"/>
                </a:solidFill>
              </a:rPr>
              <a:t>: Active </a:t>
            </a:r>
            <a:r>
              <a:rPr lang="tr-TR" sz="1800" dirty="0" err="1">
                <a:solidFill>
                  <a:schemeClr val="bg1"/>
                </a:solidFill>
              </a:rPr>
              <a:t>contour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models</a:t>
            </a:r>
            <a:r>
              <a:rPr lang="tr-TR" sz="1800" dirty="0">
                <a:solidFill>
                  <a:schemeClr val="bg1"/>
                </a:solidFill>
              </a:rPr>
              <a:t>. </a:t>
            </a:r>
            <a:r>
              <a:rPr lang="tr-TR" sz="1800" dirty="0" err="1">
                <a:solidFill>
                  <a:schemeClr val="bg1"/>
                </a:solidFill>
              </a:rPr>
              <a:t>Int</a:t>
            </a:r>
            <a:r>
              <a:rPr lang="tr-TR" sz="1800" dirty="0">
                <a:solidFill>
                  <a:schemeClr val="bg1"/>
                </a:solidFill>
              </a:rPr>
              <a:t> J </a:t>
            </a:r>
            <a:r>
              <a:rPr lang="tr-TR" sz="1800" dirty="0" err="1">
                <a:solidFill>
                  <a:schemeClr val="bg1"/>
                </a:solidFill>
              </a:rPr>
              <a:t>Comput</a:t>
            </a:r>
            <a:r>
              <a:rPr lang="tr-TR" sz="1800" dirty="0">
                <a:solidFill>
                  <a:schemeClr val="bg1"/>
                </a:solidFill>
              </a:rPr>
              <a:t> </a:t>
            </a:r>
            <a:r>
              <a:rPr lang="tr-TR" sz="1800" dirty="0" err="1">
                <a:solidFill>
                  <a:schemeClr val="bg1"/>
                </a:solidFill>
              </a:rPr>
              <a:t>Vision</a:t>
            </a:r>
            <a:r>
              <a:rPr lang="tr-TR" sz="1800" dirty="0">
                <a:solidFill>
                  <a:schemeClr val="bg1"/>
                </a:solidFill>
              </a:rPr>
              <a:t> 1, 321–331 (1988). </a:t>
            </a:r>
            <a:endParaRPr lang="tr-TR" sz="2800" i="0" dirty="0">
              <a:solidFill>
                <a:schemeClr val="bg1"/>
              </a:solidFill>
              <a:effectLst/>
              <a:latin typeface="Ubuntu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2351</TotalTime>
  <Words>285</Words>
  <Application>Microsoft Office PowerPoint</Application>
  <PresentationFormat>Ekran Gösterisi (4:3)</PresentationFormat>
  <Paragraphs>65</Paragraphs>
  <Slides>18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Tahoma</vt:lpstr>
      <vt:lpstr>Ubuntu</vt:lpstr>
      <vt:lpstr>Default Design</vt:lpstr>
      <vt:lpstr>BILBOARD DETECTION</vt:lpstr>
      <vt:lpstr>Used Techniques</vt:lpstr>
      <vt:lpstr>Our Test Image</vt:lpstr>
      <vt:lpstr>Grayscale the Image</vt:lpstr>
      <vt:lpstr>Canny Edge Detection </vt:lpstr>
      <vt:lpstr>Dilation</vt:lpstr>
      <vt:lpstr>Probabilistic Hough Line</vt:lpstr>
      <vt:lpstr>Dilation</vt:lpstr>
      <vt:lpstr>Flood Fill</vt:lpstr>
      <vt:lpstr>Active Contour</vt:lpstr>
      <vt:lpstr>Final Output</vt:lpstr>
      <vt:lpstr>Other Bilboards</vt:lpstr>
      <vt:lpstr>Other Bilboards</vt:lpstr>
      <vt:lpstr>Other Bilboards</vt:lpstr>
      <vt:lpstr>Other Bilboards</vt:lpstr>
      <vt:lpstr>Failures</vt:lpstr>
      <vt:lpstr>Failures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creator>inanc tahrali</dc:creator>
  <cp:lastModifiedBy>Yunus KARA</cp:lastModifiedBy>
  <cp:revision>186</cp:revision>
  <dcterms:created xsi:type="dcterms:W3CDTF">2007-08-26T20:02:13Z</dcterms:created>
  <dcterms:modified xsi:type="dcterms:W3CDTF">2025-01-02T09:26:58Z</dcterms:modified>
</cp:coreProperties>
</file>